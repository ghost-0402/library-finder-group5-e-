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67" r:id="rId3"/>
    <p:sldId id="257" r:id="rId4"/>
    <p:sldId id="258" r:id="rId5"/>
    <p:sldId id="259" r:id="rId6"/>
    <p:sldId id="260" r:id="rId7"/>
    <p:sldId id="261" r:id="rId8"/>
    <p:sldId id="263" r:id="rId9"/>
    <p:sldId id="264" r:id="rId10"/>
    <p:sldId id="265" r:id="rId11"/>
    <p:sldId id="266"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61" d="100"/>
          <a:sy n="61" d="100"/>
        </p:scale>
        <p:origin x="1440" y="6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10/13/2025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10/13/2025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10/13/2025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10/13/2025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10/13/2025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t>ICT381 Week 1 — Requirements Gathering &amp; Analysis</a:t>
            </a:r>
          </a:p>
        </p:txBody>
      </p:sp>
      <p:sp>
        <p:nvSpPr>
          <p:cNvPr id="3" name="Subtitle 2"/>
          <p:cNvSpPr>
            <a:spLocks noGrp="1"/>
          </p:cNvSpPr>
          <p:nvPr>
            <p:ph type="subTitle" idx="1"/>
          </p:nvPr>
        </p:nvSpPr>
        <p:spPr/>
        <p:txBody>
          <a:bodyPr>
            <a:noAutofit/>
          </a:bodyPr>
          <a:lstStyle/>
          <a:p>
            <a:r>
              <a:rPr sz="2800" dirty="0"/>
              <a:t>Library Finder (Campus)</a:t>
            </a:r>
          </a:p>
          <a:p>
            <a:r>
              <a:rPr sz="2800" dirty="0"/>
              <a:t>Group 5</a:t>
            </a:r>
          </a:p>
          <a:p>
            <a:r>
              <a:rPr sz="2800" dirty="0"/>
              <a:t>Mulungushi University</a:t>
            </a:r>
          </a:p>
          <a:p>
            <a:r>
              <a:rPr sz="2800" dirty="0"/>
              <a:t>School of Engineering and Technology</a:t>
            </a:r>
          </a:p>
          <a:p>
            <a:r>
              <a:rPr sz="2800" dirty="0"/>
              <a:t>Computer Science Department</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A8E26E-61CE-4540-80C9-6CF46EE0E7C1}"/>
              </a:ext>
            </a:extLst>
          </p:cNvPr>
          <p:cNvSpPr>
            <a:spLocks noGrp="1"/>
          </p:cNvSpPr>
          <p:nvPr>
            <p:ph type="title"/>
          </p:nvPr>
        </p:nvSpPr>
        <p:spPr/>
        <p:txBody>
          <a:bodyPr/>
          <a:lstStyle/>
          <a:p>
            <a:r>
              <a:rPr lang="en-GB" dirty="0"/>
              <a:t>Names </a:t>
            </a:r>
          </a:p>
        </p:txBody>
      </p:sp>
      <p:sp>
        <p:nvSpPr>
          <p:cNvPr id="3" name="Content Placeholder 2">
            <a:extLst>
              <a:ext uri="{FF2B5EF4-FFF2-40B4-BE49-F238E27FC236}">
                <a16:creationId xmlns:a16="http://schemas.microsoft.com/office/drawing/2014/main" id="{BB67B312-1178-4D65-A9F3-6CA9A3FBE163}"/>
              </a:ext>
            </a:extLst>
          </p:cNvPr>
          <p:cNvSpPr>
            <a:spLocks noGrp="1"/>
          </p:cNvSpPr>
          <p:nvPr>
            <p:ph idx="1"/>
          </p:nvPr>
        </p:nvSpPr>
        <p:spPr/>
        <p:txBody>
          <a:bodyPr/>
          <a:lstStyle/>
          <a:p>
            <a:r>
              <a:rPr lang="en-GB" dirty="0" err="1"/>
              <a:t>Mushilo</a:t>
            </a:r>
            <a:r>
              <a:rPr lang="en-GB" dirty="0"/>
              <a:t> Mwewa </a:t>
            </a:r>
            <a:r>
              <a:rPr lang="en-GB" dirty="0" err="1"/>
              <a:t>Mayuya</a:t>
            </a:r>
            <a:r>
              <a:rPr lang="en-GB" dirty="0"/>
              <a:t>  202302315</a:t>
            </a:r>
          </a:p>
        </p:txBody>
      </p:sp>
    </p:spTree>
    <p:extLst>
      <p:ext uri="{BB962C8B-B14F-4D97-AF65-F5344CB8AC3E}">
        <p14:creationId xmlns:p14="http://schemas.microsoft.com/office/powerpoint/2010/main" val="64555732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Vision &amp; Problem Statement</a:t>
            </a:r>
          </a:p>
        </p:txBody>
      </p:sp>
      <p:sp>
        <p:nvSpPr>
          <p:cNvPr id="3" name="Content Placeholder 2"/>
          <p:cNvSpPr>
            <a:spLocks noGrp="1"/>
          </p:cNvSpPr>
          <p:nvPr>
            <p:ph idx="1"/>
          </p:nvPr>
        </p:nvSpPr>
        <p:spPr/>
        <p:txBody>
          <a:bodyPr>
            <a:normAutofit/>
          </a:bodyPr>
          <a:lstStyle/>
          <a:p>
            <a:r>
              <a:rPr sz="2000" dirty="0"/>
              <a:t>Vision:</a:t>
            </a:r>
          </a:p>
          <a:p>
            <a:r>
              <a:rPr sz="2000" dirty="0"/>
              <a:t>Library Finder (Campus) is an offline mobile application that allows students to browse and search for campus library books by title, author, or category. It also lets users view book details and mark </a:t>
            </a:r>
            <a:r>
              <a:rPr sz="2000" dirty="0" err="1"/>
              <a:t>favourites</a:t>
            </a:r>
            <a:r>
              <a:rPr sz="2000" dirty="0"/>
              <a:t>.</a:t>
            </a:r>
          </a:p>
          <a:p>
            <a:endParaRPr sz="2000" dirty="0"/>
          </a:p>
          <a:p>
            <a:r>
              <a:rPr sz="2000" dirty="0"/>
              <a:t>Problem Statement:</a:t>
            </a:r>
          </a:p>
          <a:p>
            <a:r>
              <a:rPr sz="2000" dirty="0"/>
              <a:t>Students often struggle to find available books quickly due to limited access to library catalogues and poor network connectivity. This system provides an offline solution for efficient book search and access.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Stakeholders &amp; Project Goals</a:t>
            </a:r>
          </a:p>
        </p:txBody>
      </p:sp>
      <p:sp>
        <p:nvSpPr>
          <p:cNvPr id="3" name="Content Placeholder 2"/>
          <p:cNvSpPr>
            <a:spLocks noGrp="1"/>
          </p:cNvSpPr>
          <p:nvPr>
            <p:ph idx="1"/>
          </p:nvPr>
        </p:nvSpPr>
        <p:spPr/>
        <p:txBody>
          <a:bodyPr>
            <a:normAutofit/>
          </a:bodyPr>
          <a:lstStyle/>
          <a:p>
            <a:r>
              <a:rPr sz="2000" dirty="0"/>
              <a:t>Stakeholders:</a:t>
            </a:r>
          </a:p>
          <a:p>
            <a:r>
              <a:rPr sz="2000" dirty="0"/>
              <a:t>• Students – browse and search for books</a:t>
            </a:r>
          </a:p>
          <a:p>
            <a:r>
              <a:rPr sz="2000" dirty="0"/>
              <a:t>• Librarians/Admin – add and update records</a:t>
            </a:r>
          </a:p>
          <a:p>
            <a:r>
              <a:rPr sz="2000" dirty="0"/>
              <a:t>• University Library Department – manage database</a:t>
            </a:r>
          </a:p>
          <a:p>
            <a:r>
              <a:rPr sz="2000" dirty="0"/>
              <a:t>• Developers – maintain and improve system</a:t>
            </a:r>
          </a:p>
          <a:p>
            <a:endParaRPr sz="2000" dirty="0"/>
          </a:p>
          <a:p>
            <a:r>
              <a:rPr sz="2000" dirty="0"/>
              <a:t>Goals:</a:t>
            </a:r>
          </a:p>
          <a:p>
            <a:r>
              <a:rPr sz="2000" dirty="0"/>
              <a:t>• Provide offline access to books</a:t>
            </a:r>
          </a:p>
          <a:p>
            <a:r>
              <a:rPr sz="2000" dirty="0"/>
              <a:t>• Enable search, filter, and </a:t>
            </a:r>
            <a:r>
              <a:rPr sz="2000" dirty="0" err="1"/>
              <a:t>favourite</a:t>
            </a:r>
            <a:r>
              <a:rPr sz="2000" dirty="0"/>
              <a:t> options</a:t>
            </a:r>
          </a:p>
          <a:p>
            <a:r>
              <a:rPr sz="2000" dirty="0"/>
              <a:t>• Ensure usability and accessibility</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Functional Requirements (FR)</a:t>
            </a:r>
          </a:p>
        </p:txBody>
      </p:sp>
      <p:sp>
        <p:nvSpPr>
          <p:cNvPr id="3" name="Content Placeholder 2"/>
          <p:cNvSpPr>
            <a:spLocks noGrp="1"/>
          </p:cNvSpPr>
          <p:nvPr>
            <p:ph idx="1"/>
          </p:nvPr>
        </p:nvSpPr>
        <p:spPr/>
        <p:txBody>
          <a:bodyPr>
            <a:normAutofit/>
          </a:bodyPr>
          <a:lstStyle/>
          <a:p>
            <a:r>
              <a:rPr sz="2000" dirty="0"/>
              <a:t>FR1 – Browse all books</a:t>
            </a:r>
          </a:p>
          <a:p>
            <a:r>
              <a:rPr sz="2000" dirty="0"/>
              <a:t>FR2 – Search by title or author</a:t>
            </a:r>
          </a:p>
          <a:p>
            <a:r>
              <a:rPr sz="2000" dirty="0"/>
              <a:t>FR3 – Filter by category</a:t>
            </a:r>
          </a:p>
          <a:p>
            <a:r>
              <a:rPr sz="2000" dirty="0"/>
              <a:t>FR4 – View book details</a:t>
            </a:r>
          </a:p>
          <a:p>
            <a:r>
              <a:rPr sz="2000" dirty="0"/>
              <a:t>FR5 – Mark/unmark </a:t>
            </a:r>
            <a:r>
              <a:rPr sz="2000" dirty="0" err="1"/>
              <a:t>favourites</a:t>
            </a:r>
            <a:endParaRPr sz="2000" dirty="0"/>
          </a:p>
          <a:p>
            <a:r>
              <a:rPr sz="2000" dirty="0"/>
              <a:t>FR6 – Admin can add books</a:t>
            </a:r>
          </a:p>
          <a:p>
            <a:r>
              <a:rPr sz="2000" dirty="0"/>
              <a:t>FR7 – Share book details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Non-Functional Requirements (NFR)</a:t>
            </a:r>
          </a:p>
        </p:txBody>
      </p:sp>
      <p:sp>
        <p:nvSpPr>
          <p:cNvPr id="3" name="Content Placeholder 2"/>
          <p:cNvSpPr>
            <a:spLocks noGrp="1"/>
          </p:cNvSpPr>
          <p:nvPr>
            <p:ph idx="1"/>
          </p:nvPr>
        </p:nvSpPr>
        <p:spPr/>
        <p:txBody>
          <a:bodyPr>
            <a:normAutofit/>
          </a:bodyPr>
          <a:lstStyle/>
          <a:p>
            <a:r>
              <a:rPr sz="2000" dirty="0"/>
              <a:t>NFR1 – Usability: simple and intuitive UI</a:t>
            </a:r>
          </a:p>
          <a:p>
            <a:r>
              <a:rPr sz="2000" dirty="0"/>
              <a:t>NFR2 – Performance: fast and offline</a:t>
            </a:r>
          </a:p>
          <a:p>
            <a:r>
              <a:rPr sz="2000" dirty="0"/>
              <a:t>NFR3 – Reliability: data persistence</a:t>
            </a:r>
          </a:p>
          <a:p>
            <a:r>
              <a:rPr sz="2000" dirty="0"/>
              <a:t>NFR4 – Portability: Android 9.0+</a:t>
            </a:r>
          </a:p>
          <a:p>
            <a:r>
              <a:rPr sz="2000" dirty="0"/>
              <a:t>NFR5 – Accessibility: large text and alt descriptions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User Stories</a:t>
            </a:r>
          </a:p>
        </p:txBody>
      </p:sp>
      <p:sp>
        <p:nvSpPr>
          <p:cNvPr id="3" name="Content Placeholder 2"/>
          <p:cNvSpPr>
            <a:spLocks noGrp="1"/>
          </p:cNvSpPr>
          <p:nvPr>
            <p:ph idx="1"/>
          </p:nvPr>
        </p:nvSpPr>
        <p:spPr/>
        <p:txBody>
          <a:bodyPr>
            <a:normAutofit fontScale="92500"/>
          </a:bodyPr>
          <a:lstStyle/>
          <a:p>
            <a:r>
              <a:rPr sz="2000" dirty="0"/>
              <a:t>US1: As a student, I want to view available books so that I can see what’s in the library.</a:t>
            </a:r>
          </a:p>
          <a:p>
            <a:r>
              <a:rPr sz="2000" dirty="0"/>
              <a:t>US2: As a student, I want to search by title or author so that I can find what I need.</a:t>
            </a:r>
          </a:p>
          <a:p>
            <a:r>
              <a:rPr sz="2000" dirty="0"/>
              <a:t>US3: As a student, I want to filter by category so that I can view books in my field.</a:t>
            </a:r>
          </a:p>
          <a:p>
            <a:r>
              <a:rPr sz="2000" dirty="0"/>
              <a:t>US4: As a student, I want to view book details so that I know where to find it.</a:t>
            </a:r>
            <a:endParaRPr lang="en-GB" sz="2000" dirty="0"/>
          </a:p>
          <a:p>
            <a:r>
              <a:rPr lang="en-GB" sz="2000" dirty="0"/>
              <a:t>US5: As a student, I want to mark a book as favourite so that I can access it later.</a:t>
            </a:r>
          </a:p>
          <a:p>
            <a:r>
              <a:rPr lang="en-GB" sz="2000" dirty="0"/>
              <a:t>US6: As an admin, I want to add new books so that the catalogue stays updated.</a:t>
            </a:r>
          </a:p>
          <a:p>
            <a:r>
              <a:rPr lang="en-GB" sz="2000" dirty="0"/>
              <a:t>US7: As a student, I want to share book details so that I can recommend them.</a:t>
            </a:r>
          </a:p>
          <a:p>
            <a:r>
              <a:rPr lang="en-GB" sz="2000" dirty="0"/>
              <a:t>US8: As a student, I want offline access so that I can use the app anytime.</a:t>
            </a:r>
          </a:p>
          <a:p>
            <a:endParaRPr sz="2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Assumptions, Constraints &amp; Risks</a:t>
            </a:r>
          </a:p>
        </p:txBody>
      </p:sp>
      <p:sp>
        <p:nvSpPr>
          <p:cNvPr id="3" name="Content Placeholder 2"/>
          <p:cNvSpPr>
            <a:spLocks noGrp="1"/>
          </p:cNvSpPr>
          <p:nvPr>
            <p:ph idx="1"/>
          </p:nvPr>
        </p:nvSpPr>
        <p:spPr/>
        <p:txBody>
          <a:bodyPr>
            <a:noAutofit/>
          </a:bodyPr>
          <a:lstStyle/>
          <a:p>
            <a:r>
              <a:rPr sz="2000" dirty="0"/>
              <a:t>Assumptions:</a:t>
            </a:r>
          </a:p>
          <a:p>
            <a:r>
              <a:rPr sz="2000" dirty="0"/>
              <a:t>• Database stored locally using Room</a:t>
            </a:r>
          </a:p>
          <a:p>
            <a:r>
              <a:rPr sz="2000" dirty="0"/>
              <a:t>• Admin-only book entry</a:t>
            </a:r>
          </a:p>
          <a:p>
            <a:r>
              <a:rPr sz="2000" dirty="0"/>
              <a:t>• Works fully offline</a:t>
            </a:r>
          </a:p>
          <a:p>
            <a:endParaRPr sz="2000" dirty="0"/>
          </a:p>
          <a:p>
            <a:r>
              <a:rPr sz="2000" dirty="0"/>
              <a:t>Constraints:</a:t>
            </a:r>
          </a:p>
          <a:p>
            <a:r>
              <a:rPr sz="2000" dirty="0"/>
              <a:t>• Limited device storage</a:t>
            </a:r>
          </a:p>
          <a:p>
            <a:r>
              <a:rPr sz="2000" dirty="0"/>
              <a:t>• Offline updates require admin access</a:t>
            </a:r>
          </a:p>
          <a:p>
            <a:endParaRPr sz="2000" dirty="0"/>
          </a:p>
          <a:p>
            <a:r>
              <a:rPr sz="2000" dirty="0"/>
              <a:t>Risks:</a:t>
            </a:r>
          </a:p>
          <a:p>
            <a:r>
              <a:rPr sz="2000" dirty="0"/>
              <a:t>• Data loss if corrupted</a:t>
            </a:r>
          </a:p>
          <a:p>
            <a:r>
              <a:rPr sz="2000" dirty="0"/>
              <a:t>• Poor usability without testing</a:t>
            </a:r>
          </a:p>
          <a:p>
            <a:r>
              <a:rPr sz="2000" dirty="0"/>
              <a:t>• Security if admin access not restricted</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Context Diagram</a:t>
            </a:r>
          </a:p>
        </p:txBody>
      </p:sp>
      <p:sp>
        <p:nvSpPr>
          <p:cNvPr id="3" name="Rectangle 2"/>
          <p:cNvSpPr/>
          <p:nvPr/>
        </p:nvSpPr>
        <p:spPr>
          <a:xfrm>
            <a:off x="3657600" y="1828800"/>
            <a:ext cx="2286000" cy="1097280"/>
          </a:xfrm>
          <a:prstGeom prst="rect">
            <a:avLst/>
          </a:prstGeom>
          <a:solidFill>
            <a:srgbClr val="ADD8E6"/>
          </a:solidFill>
        </p:spPr>
        <p:style>
          <a:lnRef idx="1">
            <a:schemeClr val="accent1"/>
          </a:lnRef>
          <a:fillRef idx="3">
            <a:schemeClr val="accent1"/>
          </a:fillRef>
          <a:effectRef idx="2">
            <a:schemeClr val="accent1"/>
          </a:effectRef>
          <a:fontRef idx="minor">
            <a:schemeClr val="lt1"/>
          </a:fontRef>
        </p:style>
        <p:txBody>
          <a:bodyPr rtlCol="0" anchor="ctr"/>
          <a:lstStyle/>
          <a:p>
            <a:pPr>
              <a:defRPr sz="1400"/>
            </a:pPr>
            <a:r>
              <a:t>Library Finder App</a:t>
            </a:r>
          </a:p>
        </p:txBody>
      </p:sp>
      <p:sp>
        <p:nvSpPr>
          <p:cNvPr id="4" name="Rectangle 3"/>
          <p:cNvSpPr/>
          <p:nvPr/>
        </p:nvSpPr>
        <p:spPr>
          <a:xfrm>
            <a:off x="457200" y="1371600"/>
            <a:ext cx="1828800" cy="91440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defRPr sz="1200"/>
            </a:pPr>
            <a:r>
              <a:t>Student</a:t>
            </a:r>
          </a:p>
        </p:txBody>
      </p:sp>
      <p:sp>
        <p:nvSpPr>
          <p:cNvPr id="5" name="Rectangle 4"/>
          <p:cNvSpPr/>
          <p:nvPr/>
        </p:nvSpPr>
        <p:spPr>
          <a:xfrm>
            <a:off x="457200" y="3200400"/>
            <a:ext cx="1828800" cy="91440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defRPr sz="1200"/>
            </a:pPr>
            <a:r>
              <a:t>Admin</a:t>
            </a:r>
          </a:p>
        </p:txBody>
      </p:sp>
      <p:sp>
        <p:nvSpPr>
          <p:cNvPr id="6" name="Rectangle 5"/>
          <p:cNvSpPr/>
          <p:nvPr/>
        </p:nvSpPr>
        <p:spPr>
          <a:xfrm>
            <a:off x="6400800" y="1920240"/>
            <a:ext cx="1828800" cy="91440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defRPr sz="1200"/>
            </a:pPr>
            <a:r>
              <a:rPr dirty="0"/>
              <a:t>Local Database</a:t>
            </a:r>
          </a:p>
        </p:txBody>
      </p:sp>
      <p:cxnSp>
        <p:nvCxnSpPr>
          <p:cNvPr id="7" name="Connector 6"/>
          <p:cNvCxnSpPr/>
          <p:nvPr/>
        </p:nvCxnSpPr>
        <p:spPr>
          <a:xfrm>
            <a:off x="2286000" y="1828800"/>
            <a:ext cx="1371600" cy="457200"/>
          </a:xfrm>
          <a:prstGeom prst="line">
            <a:avLst/>
          </a:prstGeom>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flipV="1">
            <a:off x="2286000" y="2947626"/>
            <a:ext cx="1371600" cy="731520"/>
          </a:xfrm>
          <a:prstGeom prst="line">
            <a:avLst/>
          </a:prstGeom>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5943600" y="2328041"/>
            <a:ext cx="457200" cy="0"/>
          </a:xfrm>
          <a:prstGeom prst="line">
            <a:avLst/>
          </a:prstGeom>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Draft Backlog (for Week 2)</a:t>
            </a:r>
          </a:p>
        </p:txBody>
      </p:sp>
      <p:sp>
        <p:nvSpPr>
          <p:cNvPr id="3" name="Content Placeholder 2"/>
          <p:cNvSpPr>
            <a:spLocks noGrp="1"/>
          </p:cNvSpPr>
          <p:nvPr>
            <p:ph idx="1"/>
          </p:nvPr>
        </p:nvSpPr>
        <p:spPr/>
        <p:txBody>
          <a:bodyPr>
            <a:normAutofit/>
          </a:bodyPr>
          <a:lstStyle/>
          <a:p>
            <a:r>
              <a:rPr sz="2000" dirty="0"/>
              <a:t>• UC1 – Browse &amp; Search for books</a:t>
            </a:r>
          </a:p>
          <a:p>
            <a:r>
              <a:rPr sz="2000" dirty="0"/>
              <a:t>• UC2 – View Book Details</a:t>
            </a:r>
          </a:p>
          <a:p>
            <a:r>
              <a:rPr sz="2000" dirty="0"/>
              <a:t>• UC3 – Mark </a:t>
            </a:r>
            <a:r>
              <a:rPr sz="2000" dirty="0" err="1"/>
              <a:t>Favourites</a:t>
            </a:r>
            <a:endParaRPr sz="2000" dirty="0"/>
          </a:p>
          <a:p>
            <a:r>
              <a:rPr sz="2000" dirty="0"/>
              <a:t>• UC4 – Add Book (Admin)</a:t>
            </a:r>
          </a:p>
          <a:p>
            <a:r>
              <a:rPr sz="2000" dirty="0"/>
              <a:t>• UC5 – Filter by Category</a:t>
            </a:r>
          </a:p>
          <a:p>
            <a:endParaRPr sz="2000" dirty="0"/>
          </a:p>
          <a:p>
            <a:r>
              <a:rPr sz="2000" dirty="0"/>
              <a:t>Next Steps:</a:t>
            </a:r>
          </a:p>
          <a:p>
            <a:r>
              <a:rPr sz="2000" dirty="0"/>
              <a:t>Prepare Use Case and Sequence Diagrams for critical flows.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Conclusion / Next Steps</a:t>
            </a:r>
          </a:p>
        </p:txBody>
      </p:sp>
      <p:sp>
        <p:nvSpPr>
          <p:cNvPr id="3" name="Content Placeholder 2"/>
          <p:cNvSpPr>
            <a:spLocks noGrp="1"/>
          </p:cNvSpPr>
          <p:nvPr>
            <p:ph idx="1"/>
          </p:nvPr>
        </p:nvSpPr>
        <p:spPr/>
        <p:txBody>
          <a:bodyPr>
            <a:normAutofit/>
          </a:bodyPr>
          <a:lstStyle/>
          <a:p>
            <a:r>
              <a:rPr sz="2000" dirty="0"/>
              <a:t>Week 1 focused on defining requirements and user needs.</a:t>
            </a:r>
          </a:p>
          <a:p>
            <a:r>
              <a:rPr sz="2000" dirty="0"/>
              <a:t>Next Week: Create Use Case and Sequence Diagrams following MVC structure.</a:t>
            </a:r>
          </a:p>
          <a:p>
            <a:endParaRPr sz="2000" dirty="0"/>
          </a:p>
          <a:p>
            <a:r>
              <a:rPr sz="2000" dirty="0"/>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7</TotalTime>
  <Words>570</Words>
  <Application>Microsoft Office PowerPoint</Application>
  <PresentationFormat>On-screen Show (4:3)</PresentationFormat>
  <Paragraphs>81</Paragraphs>
  <Slides>11</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ICT381 Week 1 — Requirements Gathering &amp; Analysis</vt:lpstr>
      <vt:lpstr>Names </vt:lpstr>
      <vt:lpstr>Vision &amp; Problem Statement</vt:lpstr>
      <vt:lpstr>Stakeholders &amp; Project Goals</vt:lpstr>
      <vt:lpstr>Functional Requirements (FR)</vt:lpstr>
      <vt:lpstr>Non-Functional Requirements (NFR)</vt:lpstr>
      <vt:lpstr>User Stories</vt:lpstr>
      <vt:lpstr>Assumptions, Constraints &amp; Risks</vt:lpstr>
      <vt:lpstr>Context Diagram</vt:lpstr>
      <vt:lpstr>Draft Backlog (for Week 2)</vt:lpstr>
      <vt:lpstr>Conclusion / Next Steps</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ICT381 Week 1 — Requirements Gathering &amp; Analysis</dc:title>
  <dc:subject/>
  <dc:creator>Tabo Mwewa</dc:creator>
  <cp:keywords/>
  <dc:description>generated using python-pptx</dc:description>
  <cp:lastModifiedBy>Tabo Mwewa</cp:lastModifiedBy>
  <cp:revision>2</cp:revision>
  <dcterms:created xsi:type="dcterms:W3CDTF">2013-01-27T09:14:16Z</dcterms:created>
  <dcterms:modified xsi:type="dcterms:W3CDTF">2025-10-13T18:05:27Z</dcterms:modified>
  <cp:category/>
</cp:coreProperties>
</file>